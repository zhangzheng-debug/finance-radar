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a5de0b6514f3d" /><Relationship Type="http://schemas.openxmlformats.org/officeDocument/2006/relationships/extended-properties" Target="/docProps/app.xml" Id="R218691be378e487e" /><Relationship Type="http://schemas.openxmlformats.org/officeDocument/2006/relationships/officeDocument" Target="/ppt/presentation.xml" Id="R5dc537a856aa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39dab2f9f04fa7"/>
  </p:sldMasterIdLst>
  <p:notesMasterIdLst>
    <p:notesMasterId xmlns:r="http://schemas.openxmlformats.org/officeDocument/2006/relationships" r:id="R42e586729a314a44"/>
  </p:notesMasterIdLst>
  <p:sldIdLst>
    <p:sldId xmlns:r="http://schemas.openxmlformats.org/officeDocument/2006/relationships" id="256" r:id="Rdd6b0d9cbd0d46ad"/>
    <p:sldId xmlns:r="http://schemas.openxmlformats.org/officeDocument/2006/relationships" id="257" r:id="R3a7be1cc53cf4240"/>
    <p:sldId xmlns:r="http://schemas.openxmlformats.org/officeDocument/2006/relationships" id="258" r:id="Rc2cea20963844e3c"/>
    <p:sldId xmlns:r="http://schemas.openxmlformats.org/officeDocument/2006/relationships" id="259" r:id="Ra0fb33f4a976447f"/>
    <p:sldId xmlns:r="http://schemas.openxmlformats.org/officeDocument/2006/relationships" id="260" r:id="R72d874c8b2cd4c88"/>
    <p:sldId xmlns:r="http://schemas.openxmlformats.org/officeDocument/2006/relationships" id="261" r:id="R9c6057f3f4ea4abc"/>
    <p:sldId xmlns:r="http://schemas.openxmlformats.org/officeDocument/2006/relationships" id="262" r:id="Rbb7d4e119e7e49c4"/>
    <p:sldId xmlns:r="http://schemas.openxmlformats.org/officeDocument/2006/relationships" id="263" r:id="Rc6586c083c794a0b"/>
    <p:sldId xmlns:r="http://schemas.openxmlformats.org/officeDocument/2006/relationships" id="264" r:id="R96cd3068da624fde"/>
    <p:sldId xmlns:r="http://schemas.openxmlformats.org/officeDocument/2006/relationships" id="265" r:id="Rb146cd138aa14d00"/>
    <p:sldId xmlns:r="http://schemas.openxmlformats.org/officeDocument/2006/relationships" id="266" r:id="R1ed122005bc44050"/>
    <p:sldId xmlns:r="http://schemas.openxmlformats.org/officeDocument/2006/relationships" id="267" r:id="R73a842c4f3724f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8f37ebf3649b6" /><Relationship Type="http://schemas.openxmlformats.org/officeDocument/2006/relationships/slideMaster" Target="/ppt/slideMasters/slideMaster1.xml" Id="R0339dab2f9f04fa7" /><Relationship Type="http://schemas.openxmlformats.org/officeDocument/2006/relationships/notesMaster" Target="/ppt/notesMasters/notesMaster1.xml" Id="R42e586729a314a44" /><Relationship Type="http://schemas.openxmlformats.org/officeDocument/2006/relationships/presProps" Target="/ppt/presProps.xml" Id="Rf4d8818501694064" /><Relationship Type="http://schemas.openxmlformats.org/officeDocument/2006/relationships/tableStyles" Target="/ppt/tableStyles.xml" Id="R8ebc5d5cc1b74b8d" /><Relationship Type="http://schemas.openxmlformats.org/officeDocument/2006/relationships/slide" Target="/ppt/slides/slide1.xml" Id="Rdd6b0d9cbd0d46ad" /><Relationship Type="http://schemas.openxmlformats.org/officeDocument/2006/relationships/slide" Target="/ppt/slides/slide2.xml" Id="R3a7be1cc53cf4240" /><Relationship Type="http://schemas.openxmlformats.org/officeDocument/2006/relationships/slide" Target="/ppt/slides/slide3.xml" Id="Rc2cea20963844e3c" /><Relationship Type="http://schemas.openxmlformats.org/officeDocument/2006/relationships/slide" Target="/ppt/slides/slide4.xml" Id="Ra0fb33f4a976447f" /><Relationship Type="http://schemas.openxmlformats.org/officeDocument/2006/relationships/slide" Target="/ppt/slides/slide5.xml" Id="R72d874c8b2cd4c88" /><Relationship Type="http://schemas.openxmlformats.org/officeDocument/2006/relationships/slide" Target="/ppt/slides/slide6.xml" Id="R9c6057f3f4ea4abc" /><Relationship Type="http://schemas.openxmlformats.org/officeDocument/2006/relationships/slide" Target="/ppt/slides/slide7.xml" Id="Rbb7d4e119e7e49c4" /><Relationship Type="http://schemas.openxmlformats.org/officeDocument/2006/relationships/slide" Target="/ppt/slides/slide8.xml" Id="Rc6586c083c794a0b" /><Relationship Type="http://schemas.openxmlformats.org/officeDocument/2006/relationships/slide" Target="/ppt/slides/slide9.xml" Id="R96cd3068da624fde" /><Relationship Type="http://schemas.openxmlformats.org/officeDocument/2006/relationships/slide" Target="/ppt/slides/slide10.xml" Id="Rb146cd138aa14d00" /><Relationship Type="http://schemas.openxmlformats.org/officeDocument/2006/relationships/slide" Target="/ppt/slides/slide11.xml" Id="R1ed122005bc44050" /><Relationship Type="http://schemas.openxmlformats.org/officeDocument/2006/relationships/slide" Target="/ppt/slides/slide12.xml" Id="R73a842c4f372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e09d3ad89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b4f44a9b2846fd" /><Relationship Type="http://schemas.openxmlformats.org/officeDocument/2006/relationships/notesMaster" Target="/ppt/notesMasters/notesMaster1.xml" Id="R479224022a05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c341f89884f38" /><Relationship Type="http://schemas.openxmlformats.org/officeDocument/2006/relationships/notesMaster" Target="/ppt/notesMasters/notesMaster1.xml" Id="Rff004cdd2bf3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3860eb33346db" /><Relationship Type="http://schemas.openxmlformats.org/officeDocument/2006/relationships/notesMaster" Target="/ppt/notesMasters/notesMaster1.xml" Id="Rb297d66194a549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d88e9b88494da5" /><Relationship Type="http://schemas.openxmlformats.org/officeDocument/2006/relationships/notesMaster" Target="/ppt/notesMasters/notesMaster1.xml" Id="R9b1e0caecb904a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b513b8c923450d" /><Relationship Type="http://schemas.openxmlformats.org/officeDocument/2006/relationships/notesMaster" Target="/ppt/notesMasters/notesMaster1.xml" Id="R181995eedeab4c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c10e1fcbd3442d" /><Relationship Type="http://schemas.openxmlformats.org/officeDocument/2006/relationships/notesMaster" Target="/ppt/notesMasters/notesMaster1.xml" Id="R76981216db5d44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2ab3879b7a4c53" /><Relationship Type="http://schemas.openxmlformats.org/officeDocument/2006/relationships/notesMaster" Target="/ppt/notesMasters/notesMaster1.xml" Id="R08107f3043084f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87444904154f62" /><Relationship Type="http://schemas.openxmlformats.org/officeDocument/2006/relationships/notesMaster" Target="/ppt/notesMasters/notesMaster1.xml" Id="Rf977b184eaef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834ccec6f949bb" /><Relationship Type="http://schemas.openxmlformats.org/officeDocument/2006/relationships/notesMaster" Target="/ppt/notesMasters/notesMaster1.xml" Id="R9ca395a70ed441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5912a972a64e95" /><Relationship Type="http://schemas.openxmlformats.org/officeDocument/2006/relationships/notesMaster" Target="/ppt/notesMasters/notesMaster1.xml" Id="R3766def32b5e4e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e85272b5454e49" /><Relationship Type="http://schemas.openxmlformats.org/officeDocument/2006/relationships/notesMaster" Target="/ppt/notesMasters/notesMaster1.xml" Id="Rd6b0aeb5a60d48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f2d463251246a7" /><Relationship Type="http://schemas.openxmlformats.org/officeDocument/2006/relationships/notesMaster" Target="/ppt/notesMasters/notesMaster1.xml" Id="R8eb7e79bc4bf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开场只讲一句：这不是新闻摘要机器人，而是一套能追溯、回放、拒绝和恢复的证据系统。</a:t>
            </a:r>
          </a:p>
          <a:p xmlns:a="http://schemas.openxmlformats.org/drawingml/2006/main">
            <a:r>
              <a:t>先建立评价尺度：重点不是预测多快，而是每一步能否被复核。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三类风险对应后面三项设计：证据账本、冻结回放、模型门禁。</a:t>
            </a:r>
          </a:p>
          <a:p xmlns:a="http://schemas.openxmlformats.org/drawingml/2006/main">
            <a:r>
              <a:t>不要把系统描述成追求最快新闻；核心是速度之后仍然能证明。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按从左到右讲一遍，每一段都能在数据库或操作日志中找到记录。</a:t>
            </a:r>
          </a:p>
          <a:p xmlns:a="http://schemas.openxmlformats.org/drawingml/2006/main">
            <a:r>
              <a:t>强调模型排在证据门之后，并且保持Shadow，不拥有最终事实。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先指右侧真实公网截图，再讲左侧四个数字。</a:t>
            </a:r>
          </a:p>
          <a:p xmlns:a="http://schemas.openxmlformats.org/drawingml/2006/main">
            <a:r>
              <a:t>这些数字来自服务器数据库和15项公网验收，不是演示稿手填的估计值。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从左列队列、中间证据、右列判断维度依次讲。</a:t>
            </a:r>
          </a:p>
          <a:p xmlns:a="http://schemas.openxmlformats.org/drawingml/2006/main">
            <a:r>
              <a:t>快捷键已经由真实Chrome脚本验证了所选行与event_id同步，不只是AppTest。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现场点击Run frozen replay，再点击Next step。</a:t>
            </a:r>
          </a:p>
          <a:p xmlns:a="http://schemas.openxmlformats.org/drawingml/2006/main">
            <a:r>
              <a:t>强调同一个下游路由器、模拟时钟、外网关闭，因此没有新事件也能证明完整链路。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回答‘模型是否只学做空事件’：模型目标是重大不利事件的复核优先级，不是价格做空。</a:t>
            </a:r>
          </a:p>
          <a:p xmlns:a="http://schemas.openxmlformats.org/drawingml/2006/main">
            <a:r>
              <a:t>正面与中性新闻既被保存，也用于限制误报。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小模型不拥有claim verdict，也不能把弱证据自动升级。</a:t>
            </a:r>
          </a:p>
          <a:p xmlns:a="http://schemas.openxmlformats.org/drawingml/2006/main">
            <a:r>
              <a:t>8/8指冻结案例的结构合同、证据记录保持、引用合规和注入抵抗，不是泛化准确率。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这一页是模型治理亮点：失败没有被藏起来，而是触发REMAIN_SHADOW和REJECTED。</a:t>
            </a:r>
          </a:p>
          <a:p xmlns:a="http://schemas.openxmlformats.org/drawingml/2006/main">
            <a:r>
              <a:t>V3把下一步变成真实双人内容裁决，而不是继续在旧盲测上调阈值。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指出迁移已经做到审计和PREPARED_NOT_ACTIVATED，没有触碰当前交易程序。</a:t>
            </a:r>
          </a:p>
          <a:p xmlns:a="http://schemas.openxmlformats.org/drawingml/2006/main">
            <a:r>
              <a:t>24小时门禁仍是PARTIAL，这种诚实状态反而说明运维监控不是装饰。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四类证据分别回答：代码是否回归、系统是否扛得住、故障是否可见、断网时是否能复核。</a:t>
            </a:r>
          </a:p>
          <a:p xmlns:a="http://schemas.openxmlformats.org/drawingml/2006/main">
            <a:r>
              <a:t>答辩现场可直接打开离线证据包，避免网络成为唯一证明。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收尾回到开场：价值不是一次预测，而是证据链的可复核性。</a:t>
            </a:r>
          </a:p>
          <a:p xmlns:a="http://schemas.openxmlformats.org/drawingml/2006/main">
            <a:r>
              <a:t>剩余项明确归属真实学生、教师和时间窗口，不用更多AI生成代码替代。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503fa82ca4c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eef164fb8f4a7e" /><Relationship Type="http://schemas.openxmlformats.org/officeDocument/2006/relationships/slideLayout" Target="/ppt/slideLayouts/slideLayout1.xml" Id="R76e97ec4ea0b4e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97ec4ea0b4e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6d5e94b544e77" /><Relationship Type="http://schemas.openxmlformats.org/officeDocument/2006/relationships/notesSlide" Target="/ppt/notesSlides/notesSlide1.xml" Id="Rf300b33a3189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1c959f82d49be" /><Relationship Type="http://schemas.openxmlformats.org/officeDocument/2006/relationships/notesSlide" Target="/ppt/notesSlides/notesSlide2.xml" Id="Re8ebca4105ed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7db7e4a4b46b9" /><Relationship Type="http://schemas.openxmlformats.org/officeDocument/2006/relationships/notesSlide" Target="/ppt/notesSlides/notesSlide3.xml" Id="Ra8d74dcedd2b4f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ca01fb02447a5" /><Relationship Type="http://schemas.openxmlformats.org/officeDocument/2006/relationships/image" Target="/ppt/media/image.png" Id="R12236b0a22c047ad" /><Relationship Type="http://schemas.openxmlformats.org/officeDocument/2006/relationships/notesSlide" Target="/ppt/notesSlides/notesSlide4.xml" Id="Rbcef30ad0b44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05d016f944110" /><Relationship Type="http://schemas.openxmlformats.org/officeDocument/2006/relationships/image" Target="/ppt/media/image2.png" Id="Ra3b2bcc01d6145df" /><Relationship Type="http://schemas.openxmlformats.org/officeDocument/2006/relationships/notesSlide" Target="/ppt/notesSlides/notesSlide5.xml" Id="Re3e2cdb886af40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90dca87214571" /><Relationship Type="http://schemas.openxmlformats.org/officeDocument/2006/relationships/image" Target="/ppt/media/image3.png" Id="R8bc01b6c8d2b4f88" /><Relationship Type="http://schemas.openxmlformats.org/officeDocument/2006/relationships/notesSlide" Target="/ppt/notesSlides/notesSlide6.xml" Id="R2309b18823ce44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3eab42b19450c" /><Relationship Type="http://schemas.openxmlformats.org/officeDocument/2006/relationships/notesSlide" Target="/ppt/notesSlides/notesSlide7.xml" Id="R349858b35edf4c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919cdab6d4476" /><Relationship Type="http://schemas.openxmlformats.org/officeDocument/2006/relationships/notesSlide" Target="/ppt/notesSlides/notesSlide8.xml" Id="R9f3a6b35b7284e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b5ee451604957" /><Relationship Type="http://schemas.openxmlformats.org/officeDocument/2006/relationships/chart" Target="/ppt/slides/charts/chart1.xml" Id="R11cb5f00cda14706" /><Relationship Type="http://schemas.openxmlformats.org/officeDocument/2006/relationships/notesSlide" Target="/ppt/notesSlides/notesSlide9.xml" Id="R77dc97a8e3664d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4376a3a434f1b" /><Relationship Type="http://schemas.openxmlformats.org/officeDocument/2006/relationships/image" Target="/ppt/media/image4.png" Id="Rce3c5e6a81c04b90" /><Relationship Type="http://schemas.openxmlformats.org/officeDocument/2006/relationships/notesSlide" Target="/ppt/notesSlides/notesSlide10.xml" Id="Rc44efb4887d643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f3966198d4eb9" /><Relationship Type="http://schemas.openxmlformats.org/officeDocument/2006/relationships/notesSlide" Target="/ppt/notesSlides/notesSlide11.xml" Id="Rd0b509f18b4145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d85dfa5224526" /><Relationship Type="http://schemas.openxmlformats.org/officeDocument/2006/relationships/notesSlide" Target="/ppt/notesSlides/notesSlide12.xml" Id="R1f24f5e605f5472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9BDE3"/>
            </a:solidFill>
          </c:spPr>
          <c:dPt>
            <c:idx val="0"/>
            <c:spPr>
              <a:solidFill xmlns:a="http://schemas.openxmlformats.org/drawingml/2006/main">
                <a:srgbClr val="3ED59F"/>
              </a:solidFill>
            </c:spPr>
          </c:dPt>
          <c:dPt>
            <c:idx val="1"/>
            <c:spPr>
              <a:solidFill xmlns:a="http://schemas.openxmlformats.org/drawingml/2006/main">
                <a:srgbClr val="FF6B7C"/>
              </a:solidFill>
            </c:spPr>
          </c:dPt>
          <c:dPt>
            <c:idx val="2"/>
            <c:spPr>
              <a:solidFill xmlns:a="http://schemas.openxmlformats.org/drawingml/2006/main">
                <a:srgbClr val="F0B35A"/>
              </a:solidFill>
            </c:spPr>
          </c:dPt>
          <c:dPt>
            <c:idx val="3"/>
            <c:spPr>
              <a:solidFill xmlns:a="http://schemas.openxmlformats.org/drawingml/2006/main">
                <a:srgbClr val="FF6B7C"/>
              </a:solidFill>
            </c:spPr>
          </c:dPt>
          <c:cat>
            <c:strLit>
              <c:ptCount val="4"/>
              <c:pt idx="0">
                <c:v>风险召回</c:v>
              </c:pt>
              <c:pt idx="1">
                <c:v>普通误报</c:v>
              </c:pt>
              <c:pt idx="2">
                <c:v>开发覆盖</c:v>
              </c:pt>
              <c:pt idx="3">
                <c:v>留出覆盖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95</c:v>
              </c:pt>
              <c:pt idx="2">
                <c:v>40.4</c:v>
              </c:pt>
              <c:pt idx="3">
                <c:v>4.2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E6EEF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2324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2324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79CA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2324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6EEF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0C13"/>
        </a:solidFill>
        <a:ln xmlns:a="http://schemas.openxmlformats.org/drawingml/2006/main" w="0">
          <a:solidFill>
            <a:srgbClr val="060C13"/>
          </a:solidFill>
          <a:prstDash val="solid"/>
        </a:ln>
      </c:spPr>
    </c:plotArea>
    <c:plotVisOnly val="1"/>
  </c:chart>
  <c:spPr>
    <a:solidFill xmlns:a="http://schemas.openxmlformats.org/drawingml/2006/main">
      <a:srgbClr val="060C13"/>
    </a:solidFill>
    <a:ln xmlns:a="http://schemas.openxmlformats.org/drawingml/2006/main" w="0">
      <a:solidFill>
        <a:srgbClr val="060C13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084A3-3BC7-4431-8FF1-6FEA5E44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DE3"/>
          </a:solidFill>
          <a:ln xmlns:a="http://schemas.openxmlformats.org/drawingml/2006/main" w="0">
            <a:solidFill>
              <a:srgbClr val="29BD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076C5-B6B8-447B-861E-A5EB760A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BDE3"/>
                </a:solidFill>
              </a:defRPr>
            </a:pPr>
            <a:r>
              <a:rPr sz="1350" b="1">
                <a:solidFill>
                  <a:srgbClr val="29BDE3"/>
                </a:solidFill>
              </a:rPr>
              <a:t>FINANCE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3AE77-4B8A-4B38-A2B0-5B3EC13B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E6EEF5"/>
                </a:solidFill>
              </a:defRPr>
            </a:pPr>
            <a:r>
              <a:rPr sz="4500" b="1">
                <a:solidFill>
                  <a:srgbClr val="E6EEF5"/>
                </a:solidFill>
              </a:rPr>
              <a:t>金融事件证据雷达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A5BEB-2DB8-4F85-9CD6-EE68AC8B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79CAF"/>
                </a:solidFill>
              </a:defRPr>
            </a:pPr>
            <a:r>
              <a:rPr sz="2175" b="0">
                <a:solidFill>
                  <a:srgbClr val="879CAF"/>
                </a:solidFill>
              </a:rPr>
              <a:t>从实时信息流，到可复核的证据链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A6FD6-C312-4AD4-8DBE-E7912C6F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8AFB"/>
                </a:solidFill>
              </a:defRPr>
            </a:pPr>
            <a:r>
              <a:rPr sz="1050" b="1">
                <a:solidFill>
                  <a:srgbClr val="9B8AFB"/>
                </a:solidFill>
              </a:rPr>
              <a:t>FULL-POLARITY LEDGER · EVIDENCE GATES · DETERMINISTIC 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EC042-D16E-40DC-A47C-D8CA9C4F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190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D677C-E8E0-454F-AC27-061DC34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57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BDE3"/>
                </a:solidFill>
              </a:defRPr>
            </a:pPr>
            <a:r>
              <a:rPr sz="1050" b="1">
                <a:solidFill>
                  <a:srgbClr val="29BDE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DFB59-E0AC-4D84-8766-0317C265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238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6E032-70B2-4B68-841A-7BA66D0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00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879CAF"/>
                </a:solidFill>
              </a:defRPr>
            </a:pPr>
            <a:r>
              <a:rPr sz="1088" b="0">
                <a:solidFill>
                  <a:srgbClr val="879CAF"/>
                </a:solidFill>
              </a:rPr>
              <a:t>每条结论回到原文证据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93310-E899-4012-BE21-1BC2CB0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BDE3"/>
                </a:solidFill>
              </a:defRPr>
            </a:pPr>
            <a:r>
              <a:rPr sz="1050" b="1">
                <a:solidFill>
                  <a:srgbClr val="29BDE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BB562-C938-4F92-8FFD-0FFDA29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FFAAF-AF34-481C-BFF7-02FA5D76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879CAF"/>
                </a:solidFill>
              </a:defRPr>
            </a:pPr>
            <a:r>
              <a:rPr sz="1088" b="0">
                <a:solidFill>
                  <a:srgbClr val="879CAF"/>
                </a:solidFill>
              </a:rPr>
              <a:t>没有新事件也能稳定演示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DAD78-7515-4C8E-AB0F-1DE8E2E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BDE3"/>
                </a:solidFill>
              </a:defRPr>
            </a:pPr>
            <a:r>
              <a:rPr sz="1050" b="1">
                <a:solidFill>
                  <a:srgbClr val="29BDE3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9CA1F-D798-4CC6-BBE2-D10FC55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可拒绝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32099-B3A8-4791-B828-23374CE0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879CAF"/>
                </a:solidFill>
              </a:defRPr>
            </a:pPr>
            <a:r>
              <a:rPr sz="1088" b="0">
                <a:solidFill>
                  <a:srgbClr val="879CAF"/>
                </a:solidFill>
              </a:rPr>
              <a:t>模型失败不会被包装上线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1114-B6B6-475E-A739-912321FF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BDE3"/>
                </a:solidFill>
              </a:defRPr>
            </a:pPr>
            <a:r>
              <a:rPr sz="1050" b="1">
                <a:solidFill>
                  <a:srgbClr val="29BDE3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C345-9C5D-46D7-BC93-A0B2E058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2F812-5EB6-4115-8B9C-E020D2F1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29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879CAF"/>
                </a:solidFill>
              </a:defRPr>
            </a:pPr>
            <a:r>
              <a:rPr sz="1088" b="0">
                <a:solidFill>
                  <a:srgbClr val="879CAF"/>
                </a:solidFill>
              </a:rPr>
              <a:t>服务器迁移有完整恢复门禁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EA724-C499-4903-A257-8B5A39E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北京林业大学理学院 · 2026 实训项目答辩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FCC31-B514-41FA-92AD-67B6A17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436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5244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38E41-19B8-4455-87A9-DDD66FAD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203EF-FF97-4C86-958D-975ED90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快，不代表可信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635A3-3F7A-40A1-BF8E-A9F256EC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C4A77-0999-49E0-9B9A-135EFCC6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AE89C-8E2C-46AB-BE43-4A71696E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79CAF"/>
                </a:solidFill>
              </a:defRPr>
            </a:pPr>
            <a:r>
              <a:rPr sz="1800" b="0">
                <a:solidFill>
                  <a:srgbClr val="879CAF"/>
                </a:solidFill>
              </a:rPr>
              <a:t>传统新闻流把“发现”直接交给模型，却缺少三道决定可信度的门。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D7F45-D5CC-4ACA-8C86-59C194F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35A"/>
                </a:solidFill>
              </a:defRPr>
            </a:pPr>
            <a:r>
              <a:rPr sz="1125" b="1">
                <a:solidFill>
                  <a:srgbClr val="F0B3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7200-CB6C-4894-B566-33985FB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EF5"/>
                </a:solidFill>
              </a:defRPr>
            </a:pPr>
            <a:r>
              <a:rPr sz="1875" b="1">
                <a:solidFill>
                  <a:srgbClr val="E6EEF5"/>
                </a:solidFill>
              </a:rPr>
              <a:t>来源不等于事实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546CF-7468-4EFB-A1FC-42CF44AE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79CAF"/>
                </a:solidFill>
              </a:defRPr>
            </a:pPr>
            <a:r>
              <a:rPr sz="1275" b="0">
                <a:solidFill>
                  <a:srgbClr val="879CAF"/>
                </a:solidFill>
              </a:rPr>
              <a:t>聚合标题可以发现事件，但不能代替SEC、监管机构或公司原文。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4A0B4-8EF2-4987-924B-8F26E2E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 w="0">
            <a:solidFill>
              <a:srgbClr val="F0B3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69611-7983-4840-9025-32CD9A19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47900"/>
            <a:ext cx="952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A9600-6626-4A92-A1F7-BD90146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BDE3"/>
                </a:solidFill>
              </a:defRPr>
            </a:pPr>
            <a:r>
              <a:rPr sz="1125" b="1">
                <a:solidFill>
                  <a:srgbClr val="29BDE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77125-370C-47A3-A974-D72965CD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EF5"/>
                </a:solidFill>
              </a:defRPr>
            </a:pPr>
            <a:r>
              <a:rPr sz="1875" b="1">
                <a:solidFill>
                  <a:srgbClr val="E6EEF5"/>
                </a:solidFill>
              </a:rPr>
              <a:t>现场事件不可控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16F9D-6E89-46E3-9EA7-41EE2802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79CAF"/>
                </a:solidFill>
              </a:defRPr>
            </a:pPr>
            <a:r>
              <a:rPr sz="1275" b="0">
                <a:solidFill>
                  <a:srgbClr val="879CAF"/>
                </a:solidFill>
              </a:rPr>
              <a:t>答辩当天可能没有新的SEC事件；依赖“刚好发生”会让演示失真。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81AF6-BBD3-4344-BDE3-DDF838C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DE3"/>
          </a:solidFill>
          <a:ln xmlns:a="http://schemas.openxmlformats.org/drawingml/2006/main" w="0">
            <a:solidFill>
              <a:srgbClr val="29B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081EE-7029-4B68-AC4C-F13FBA9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952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A6694-803E-4161-A429-448C47AD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7C"/>
                </a:solidFill>
              </a:defRPr>
            </a:pPr>
            <a:r>
              <a:rPr sz="1125" b="1">
                <a:solidFill>
                  <a:srgbClr val="FF6B7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C8B52-4B87-4862-B77A-20340FA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EF5"/>
                </a:solidFill>
              </a:defRPr>
            </a:pPr>
            <a:r>
              <a:rPr sz="1875" b="1">
                <a:solidFill>
                  <a:srgbClr val="E6EEF5"/>
                </a:solidFill>
              </a:rPr>
              <a:t>高召回会制造误报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FB6EB-BEB8-407D-9A1B-C8FF6EEE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79CAF"/>
                </a:solidFill>
              </a:defRPr>
            </a:pPr>
            <a:r>
              <a:rPr sz="1275" b="0">
                <a:solidFill>
                  <a:srgbClr val="879CAF"/>
                </a:solidFill>
              </a:rPr>
              <a:t>负面风险路由若没有盲测和ABSTAIN，很容易把普通新闻也判成风险。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6FF77-8410-4D8B-B7FE-6676B924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C"/>
          </a:solidFill>
          <a:ln xmlns:a="http://schemas.openxmlformats.org/drawingml/2006/main" w="0">
            <a:solidFill>
              <a:srgbClr val="FF6B7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DA82E-5328-4094-BC4E-792AEDAE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EF5"/>
                </a:solidFill>
              </a:defRPr>
            </a:pPr>
            <a:r>
              <a:rPr sz="1875" b="1">
                <a:solidFill>
                  <a:srgbClr val="E6EEF5"/>
                </a:solidFill>
              </a:rPr>
              <a:t>设计目标：把“新闻快”变成“证据可核验”，并让不确定性在系统中可见。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D70F6-A510-4D26-8F16-C9D954D7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CE6C6-4234-4686-9B39-D25ADDCF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问题定义来自项目任务书与当前外部盲测失败证据</a:t>
            </a:r>
          </a:p>
        </p:txBody>
      </p:sp>
    </p:spTree>
    <p:extLst>
      <p:ext uri="{BB962C8B-B14F-4D97-AF65-F5344CB8AC3E}">
        <p14:creationId xmlns:p14="http://schemas.microsoft.com/office/powerpoint/2010/main" val="1548221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673D2B-BB4E-4566-ABA2-968E53CE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CD3B4-F919-404B-BA7F-E11A3521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证据链先于模型，模型只在边界内工作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0FAC0-4E9A-401B-B2A4-D7D29D41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A4705-C245-46B9-98A4-A759BDB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4C82B-17CE-4E3B-8C32-539D9D7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79CAF"/>
                </a:solidFill>
              </a:defRPr>
            </a:pPr>
            <a:r>
              <a:rPr sz="1650" b="0">
                <a:solidFill>
                  <a:srgbClr val="879CAF"/>
                </a:solidFill>
              </a:rPr>
              <a:t>每个阶段留下可复核状态；任何一步不满足条件，都可以停在 ABSTAIN。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CA42B-40F0-4281-91A2-A4F00C6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9BDE3"/>
                </a:solidFill>
              </a:defRPr>
            </a:pPr>
            <a:r>
              <a:rPr sz="2250" b="1">
                <a:solidFill>
                  <a:srgbClr val="29BDE3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2104C-1197-4704-A2FA-EEBF7A2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9BDE3"/>
                </a:solidFill>
              </a:defRPr>
            </a:pPr>
            <a:r>
              <a:rPr sz="2250" b="1">
                <a:solidFill>
                  <a:srgbClr val="29BDE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26A96-1E02-48EA-8832-8EA42D36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9BDE3"/>
                </a:solidFill>
              </a:defRPr>
            </a:pPr>
            <a:r>
              <a:rPr sz="2250" b="1">
                <a:solidFill>
                  <a:srgbClr val="29BDE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2E4BA-41B8-478B-8B5C-016A1BA3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9BDE3"/>
                </a:solidFill>
              </a:defRPr>
            </a:pPr>
            <a:r>
              <a:rPr sz="2250" b="1">
                <a:solidFill>
                  <a:srgbClr val="29BDE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EA3E5-8DE1-4F93-9CBA-1736C214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809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B8814-4613-494C-94A4-03C48E5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BDE3"/>
                </a:solidFill>
              </a:defRPr>
            </a:pPr>
            <a:r>
              <a:rPr sz="900" b="1">
                <a:solidFill>
                  <a:srgbClr val="29BDE3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C920C-98C6-4EA8-8A8B-13EF41FF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EEF5"/>
                </a:solidFill>
              </a:defRPr>
            </a:pPr>
            <a:r>
              <a:rPr sz="1575" b="1">
                <a:solidFill>
                  <a:srgbClr val="E6EEF5"/>
                </a:solidFill>
              </a:rPr>
              <a:t>多源采集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F9C80-4C7A-41BF-ADC3-64461CB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9CAF"/>
                </a:solidFill>
              </a:defRPr>
            </a:pPr>
            <a:r>
              <a:rPr sz="1050" b="0">
                <a:solidFill>
                  <a:srgbClr val="879CAF"/>
                </a:solidFill>
              </a:rPr>
              <a:t>P0 官方 / P1 发行人 / P2 发现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A13A9-F6F2-41D9-B813-E488D604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1809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7DC80-BEF2-40D4-9D4E-1A4E71F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BDE3"/>
                </a:solidFill>
              </a:defRPr>
            </a:pPr>
            <a:r>
              <a:rPr sz="900" b="1">
                <a:solidFill>
                  <a:srgbClr val="29BDE3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C640A-06A7-4828-AC55-7055DC7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EEF5"/>
                </a:solidFill>
              </a:defRPr>
            </a:pPr>
            <a:r>
              <a:rPr sz="1575" b="1">
                <a:solidFill>
                  <a:srgbClr val="E6EEF5"/>
                </a:solidFill>
              </a:rPr>
              <a:t>不可变账本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19371-33DA-41A4-8CA6-E4B7D17D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9CAF"/>
                </a:solidFill>
              </a:defRPr>
            </a:pPr>
            <a:r>
              <a:rPr sz="1050" b="0">
                <a:solidFill>
                  <a:srgbClr val="879CAF"/>
                </a:solidFill>
              </a:rPr>
              <a:t>原始观测 · 修订 · 时间线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64DED-A730-462C-AD02-82C3ECDD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9B8A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A3000-DE3A-4B71-97D8-6A96E56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BDE3"/>
                </a:solidFill>
              </a:defRPr>
            </a:pPr>
            <a:r>
              <a:rPr sz="900" b="1">
                <a:solidFill>
                  <a:srgbClr val="29BDE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1C3C9-5EBD-46DC-A536-85C69A9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EEF5"/>
                </a:solidFill>
              </a:defRPr>
            </a:pPr>
            <a:r>
              <a:rPr sz="1575" b="1">
                <a:solidFill>
                  <a:srgbClr val="E6EEF5"/>
                </a:solidFill>
              </a:rPr>
              <a:t>证据门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1A54B-97D5-4DD7-8103-70F49E77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9CAF"/>
                </a:solidFill>
              </a:defRPr>
            </a:pPr>
            <a:r>
              <a:rPr sz="1050" b="0">
                <a:solidFill>
                  <a:srgbClr val="879CAF"/>
                </a:solidFill>
              </a:rPr>
              <a:t>原文片段 · 冲突 · 最终性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4E7BC-9815-41A3-A00A-3D36C125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1809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8944A-EB50-4CB1-8151-5728862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BDE3"/>
                </a:solidFill>
              </a:defRPr>
            </a:pPr>
            <a:r>
              <a:rPr sz="900" b="1">
                <a:solidFill>
                  <a:srgbClr val="29BDE3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CCEFE-9815-4F86-A24C-EDB65182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EEF5"/>
                </a:solidFill>
              </a:defRPr>
            </a:pPr>
            <a:r>
              <a:rPr sz="1575" b="1">
                <a:solidFill>
                  <a:srgbClr val="E6EEF5"/>
                </a:solidFill>
              </a:rPr>
              <a:t>Shadow 智能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BB3D3-BAA4-46B7-AAAA-3702F9CE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956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9CAF"/>
                </a:solidFill>
              </a:defRPr>
            </a:pPr>
            <a:r>
              <a:rPr sz="1050" b="0">
                <a:solidFill>
                  <a:srgbClr val="879CAF"/>
                </a:solidFill>
              </a:rPr>
              <a:t>风险路由 + 本地摘要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BC995-7E31-4BC5-B367-FB9342AB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19538-614E-47D7-AA83-C60E0027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BDE3"/>
                </a:solidFill>
              </a:defRPr>
            </a:pPr>
            <a:r>
              <a:rPr sz="900" b="1">
                <a:solidFill>
                  <a:srgbClr val="29BDE3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C43BF-96A8-4C95-BE42-E9CF5A02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EEF5"/>
                </a:solidFill>
              </a:defRPr>
            </a:pPr>
            <a:r>
              <a:rPr sz="1575" b="1">
                <a:solidFill>
                  <a:srgbClr val="E6EEF5"/>
                </a:solidFill>
              </a:rPr>
              <a:t>双终端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76372F-AF34-4D6F-B95C-EA34F42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9CAF"/>
                </a:solidFill>
              </a:defRPr>
            </a:pPr>
            <a:r>
              <a:rPr sz="1050" b="0">
                <a:solidFill>
                  <a:srgbClr val="879CAF"/>
                </a:solidFill>
              </a:rPr>
              <a:t>Web 工作台 + Telegram 深链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56D27A-6074-4545-A725-32E641F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7251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0B251D"/>
          </a:solidFill>
          <a:ln xmlns:a="http://schemas.openxmlformats.org/drawingml/2006/main" w="9525">
            <a:solidFill>
              <a:srgbClr val="3ED59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A8C5E-4798-42F8-9B33-7E7964A9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D59F"/>
                </a:solidFill>
              </a:defRPr>
            </a:pPr>
            <a:r>
              <a:rPr sz="1425" b="1">
                <a:solidFill>
                  <a:srgbClr val="3ED59F"/>
                </a:solidFill>
              </a:rPr>
              <a:t>硬边界贯穿全链路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CE3D1-91BD-4AF0-977A-798C0456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EEF5"/>
                </a:solidFill>
              </a:defRPr>
            </a:pPr>
            <a:r>
              <a:rPr sz="1500" b="1">
                <a:solidFill>
                  <a:srgbClr val="E6EEF5"/>
                </a:solidFill>
              </a:rPr>
              <a:t>无下单 · 无仓位 · 无余额 · 无 LONG/SHORT · 无自动事实核验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68FED-5406-43DF-95EC-16AF1E3A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0B35A"/>
                </a:solidFill>
              </a:defRPr>
            </a:pPr>
            <a:r>
              <a:rPr sz="1725" b="0">
                <a:solidFill>
                  <a:srgbClr val="F0B35A"/>
                </a:solidFill>
              </a:rPr>
              <a:t>系统的输出是“是否值得人工复核”，不是交易方向或收益预测。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71A09-974A-4BAA-A193-E01B19B3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8F7574-3EB7-4273-BA1E-EB7680AF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证据：financial_event_radar_project_plan_v5_1_ai.md · no-trading audit</a:t>
            </a:r>
          </a:p>
        </p:txBody>
      </p:sp>
    </p:spTree>
    <p:extLst>
      <p:ext uri="{BB962C8B-B14F-4D97-AF65-F5344CB8AC3E}">
        <p14:creationId xmlns:p14="http://schemas.microsoft.com/office/powerpoint/2010/main" val="1741692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5752A-2E0F-41EC-93FA-5740E45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5247C-4C83-49FA-95D1-9F762755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公网系统已经形成真实运行态，而不是静态原型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8FF62-DB6E-41BA-83E8-7AC926C0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17FA8-4479-4A1B-A339-8B75413E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7E927-2E91-40FB-A734-92416E3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9BDE3"/>
                </a:solidFill>
              </a:defRPr>
            </a:pPr>
            <a:r>
              <a:rPr sz="2550" b="1">
                <a:solidFill>
                  <a:srgbClr val="29BDE3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0B66F-44D5-4E3D-A60B-754A7E6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持续注册的数据源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05FEA-AE9B-458B-8B70-8B235A7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D59F"/>
                </a:solidFill>
              </a:defRPr>
            </a:pPr>
            <a:r>
              <a:rPr sz="2550" b="1">
                <a:solidFill>
                  <a:srgbClr val="3ED59F"/>
                </a:solidFill>
              </a:rPr>
              <a:t>1,191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AE94-0FA1-40BF-8FF4-200D785C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规范化事件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F8084-24E5-41DB-82FC-01C87CD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AFB"/>
                </a:solidFill>
              </a:defRPr>
            </a:pPr>
            <a:r>
              <a:rPr sz="2550" b="1">
                <a:solidFill>
                  <a:srgbClr val="9B8AFB"/>
                </a:solidFill>
              </a:rPr>
              <a:t>2,394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93676-96D2-4E4E-8C81-98FACFCB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声明—证据关联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83338-7C9A-4D9B-8059-D9633333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D59F"/>
                </a:solidFill>
              </a:defRPr>
            </a:pPr>
            <a:r>
              <a:rPr sz="2550" b="1">
                <a:solidFill>
                  <a:srgbClr val="3ED59F"/>
                </a:solidFill>
              </a:rPr>
              <a:t>15 /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5E821-6703-4EF9-99AB-1DC1484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公网产品验收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673AE-BE98-491E-B7B1-000CACBD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79CAF"/>
                </a:solidFill>
              </a:defRPr>
            </a:pPr>
            <a:r>
              <a:rPr sz="1275" b="0">
                <a:solidFill>
                  <a:srgbClr val="879CAF"/>
                </a:solidFill>
              </a:rPr>
              <a:t>首页把事件流、人工复核队列和来源健康放在同一工作面。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69FE4-3806-4C8D-BBBD-5EEFC07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514475"/>
            <a:ext cx="7943850" cy="4505325"/>
          </a:xfrm>
          <a:prstGeom xmlns:a="http://schemas.openxmlformats.org/drawingml/2006/main" prst="roundRect">
            <a:avLst>
              <a:gd name="adj" fmla="val 1691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36b0a22c047ad"/>
          <a:stretch xmlns:a="http://schemas.openxmlformats.org/drawingml/2006/main"/>
        </p:blipFill>
        <p:spPr>
          <a:xfrm xmlns:a="http://schemas.openxmlformats.org/drawingml/2006/main">
            <a:off x="3738033" y="1562100"/>
            <a:ext cx="7840133" cy="4410075"/>
          </a:xfrm>
          <a:prstGeom xmlns:a="http://schemas.openxmlformats.org/drawingml/2006/main" prst="roundRect">
            <a:avLst>
              <a:gd name="adj" fmla="val 108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1BB9D-DDC5-46AE-8551-A2602350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34377-FCA2-4B69-940C-37F316A8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证据：reports/product_acceptance_live_latest.json · home_1920x1080.png</a:t>
            </a:r>
          </a:p>
        </p:txBody>
      </p:sp>
    </p:spTree>
    <p:extLst>
      <p:ext uri="{BB962C8B-B14F-4D97-AF65-F5344CB8AC3E}">
        <p14:creationId xmlns:p14="http://schemas.microsoft.com/office/powerpoint/2010/main" val="132011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6A32B-475D-4C7D-A291-E785178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7CFCE-EDA3-4BD8-989D-AFF9924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一个事件被拆成证据、判断与审计历史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CC786-7FB0-40F0-9000-F9D1E53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B8999-9C40-45A1-B4CD-051AC49D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EA7DD-4E89-4763-906C-D8C628AC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AFB"/>
          </a:solidFill>
          <a:ln xmlns:a="http://schemas.openxmlformats.org/drawingml/2006/main" w="0">
            <a:solidFill>
              <a:srgbClr val="9B8A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307E0-11EC-4399-A07B-585555D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EEF5"/>
                </a:solidFill>
              </a:defRPr>
            </a:pPr>
            <a:r>
              <a:rPr sz="1425" b="1">
                <a:solidFill>
                  <a:srgbClr val="E6EEF5"/>
                </a:solidFill>
              </a:rPr>
              <a:t>精确片段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66472-3946-460F-8913-90F8CDB1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879CAF"/>
                </a:solidFill>
              </a:defRPr>
            </a:pPr>
            <a:r>
              <a:rPr sz="1163" b="0">
                <a:solidFill>
                  <a:srgbClr val="879CAF"/>
                </a:solidFill>
              </a:rPr>
              <a:t>证据矩阵保存原文片段、来源等级与状态，而不是只有URL。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1C021-D76B-4E0B-8BA7-E357C72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E3"/>
          </a:solidFill>
          <a:ln xmlns:a="http://schemas.openxmlformats.org/drawingml/2006/main" w="0">
            <a:solidFill>
              <a:srgbClr val="29B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FC8F7-A443-4D06-BFFB-BD4CF3A3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EEF5"/>
                </a:solidFill>
              </a:defRPr>
            </a:pPr>
            <a:r>
              <a:rPr sz="1425" b="1">
                <a:solidFill>
                  <a:srgbClr val="E6EEF5"/>
                </a:solidFill>
              </a:rPr>
              <a:t>独立维度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E10A7-F3BE-42B7-8F5E-7063A543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879CAF"/>
                </a:solidFill>
              </a:defRPr>
            </a:pPr>
            <a:r>
              <a:rPr sz="1163" b="0">
                <a:solidFill>
                  <a:srgbClr val="879CAF"/>
                </a:solidFill>
              </a:rPr>
              <a:t>风险路由、证据边、权威性、冲突和工作流互不替代。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D9E3D-A28D-43AE-8842-EFE503EC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59F"/>
          </a:solidFill>
          <a:ln xmlns:a="http://schemas.openxmlformats.org/drawingml/2006/main" w="0">
            <a:solidFill>
              <a:srgbClr val="3ED5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34086-2163-41EA-A8F8-2D08C2D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EEF5"/>
                </a:solidFill>
              </a:defRPr>
            </a:pPr>
            <a:r>
              <a:rPr sz="1425" b="1">
                <a:solidFill>
                  <a:srgbClr val="E6EEF5"/>
                </a:solidFill>
              </a:rPr>
              <a:t>可操作历史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D302E-A264-432E-A0C2-46E6FE3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879CAF"/>
                </a:solidFill>
              </a:defRPr>
            </a:pPr>
            <a:r>
              <a:rPr sz="1163" b="0">
                <a:solidFill>
                  <a:srgbClr val="879CAF"/>
                </a:solidFill>
              </a:rPr>
              <a:t>J/K切换、全局检索、事件版本与人工复核记录均可追踪。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89B12-B4DD-4C36-9709-E9EF168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35A"/>
                </a:solidFill>
              </a:defRPr>
            </a:pPr>
            <a:r>
              <a:rPr sz="1350" b="1">
                <a:solidFill>
                  <a:srgbClr val="F0B35A"/>
                </a:solidFill>
              </a:rPr>
              <a:t>真实Chrome交互：J 下一条 · K 返回 · / 聚焦搜索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6B61A-7F85-460B-9F85-FD51B78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14475"/>
            <a:ext cx="8077200" cy="4581525"/>
          </a:xfrm>
          <a:prstGeom xmlns:a="http://schemas.openxmlformats.org/drawingml/2006/main" prst="roundRect">
            <a:avLst>
              <a:gd name="adj" fmla="val 1663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2bcc01d6145df"/>
          <a:stretch xmlns:a="http://schemas.openxmlformats.org/drawingml/2006/main"/>
        </p:blipFill>
        <p:spPr>
          <a:xfrm xmlns:a="http://schemas.openxmlformats.org/drawingml/2006/main">
            <a:off x="3603625" y="1562100"/>
            <a:ext cx="7975600" cy="4486275"/>
          </a:xfrm>
          <a:prstGeom xmlns:a="http://schemas.openxmlformats.org/drawingml/2006/main" prst="roundRect">
            <a:avLst>
              <a:gd name="adj" fmla="val 1062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74E64-63FB-430C-94AF-97D7DB5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8DBAD-9596-4731-AFED-B919506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证据：public_interaction_acceptance.json · event_keyboard_after_jk_1920x1080.png</a:t>
            </a:r>
          </a:p>
        </p:txBody>
      </p:sp>
    </p:spTree>
    <p:extLst>
      <p:ext uri="{BB962C8B-B14F-4D97-AF65-F5344CB8AC3E}">
        <p14:creationId xmlns:p14="http://schemas.microsoft.com/office/powerpoint/2010/main" val="103883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4411C-6850-43A2-A8E3-ADE1354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4C69C-5553-495D-8033-077E9FBB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答辩演示不依赖“刚好发生一条SEC事件”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B8B40-0076-4355-B526-E3E1498D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C9087-42EA-42CE-A4D7-AC8E4F5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AA2B4-C8FC-44A3-8A49-62F61F29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33525"/>
            <a:ext cx="7905750" cy="4486275"/>
          </a:xfrm>
          <a:prstGeom xmlns:a="http://schemas.openxmlformats.org/drawingml/2006/main" prst="roundRect">
            <a:avLst>
              <a:gd name="adj" fmla="val 1699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01b6c8d2b4f88"/>
          <a:stretch xmlns:a="http://schemas.openxmlformats.org/drawingml/2006/main"/>
        </p:blipFill>
        <p:spPr>
          <a:xfrm xmlns:a="http://schemas.openxmlformats.org/drawingml/2006/main">
            <a:off x="611717" y="1581150"/>
            <a:ext cx="7806267" cy="4391025"/>
          </a:xfrm>
          <a:prstGeom xmlns:a="http://schemas.openxmlformats.org/drawingml/2006/main" prst="roundRect">
            <a:avLst>
              <a:gd name="adj" fmla="val 108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965B2-022D-4730-B9AA-221927C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STEP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F3183-23DA-40F0-8303-A55D7D91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P2 新闻标题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8A2F5-87ED-41C5-891F-39C0B69B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B35A"/>
                </a:solidFill>
              </a:defRPr>
            </a:pPr>
            <a:r>
              <a:rPr sz="2175" b="1">
                <a:solidFill>
                  <a:srgbClr val="F0B35A"/>
                </a:solidFill>
              </a:rPr>
              <a:t>ABSTAIN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13591-E186-4D78-88D5-743B17DD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879CAF"/>
                </a:solidFill>
              </a:defRPr>
            </a:pPr>
            <a:r>
              <a:rPr sz="1163" b="0">
                <a:solidFill>
                  <a:srgbClr val="879CAF"/>
                </a:solidFill>
              </a:rPr>
              <a:t>没有主证据，不允许升级。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7D085-7A26-4220-990A-D01184BA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8A924-44DC-4FAC-83DE-C3D05E1E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STEP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4BA7A-EFC9-4F61-91A0-EDA7680E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P0 SEC 原文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632AF-79B1-442D-8C0D-E6EFA443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386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D59F"/>
                </a:solidFill>
              </a:defRPr>
            </a:pPr>
            <a:r>
              <a:rPr sz="2025" b="1">
                <a:solidFill>
                  <a:srgbClr val="3ED59F"/>
                </a:solidFill>
              </a:rPr>
              <a:t>RISK_REVIEW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4E3FB-3F14-41BC-8354-6E44F85B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339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BDE3"/>
                </a:solidFill>
              </a:defRPr>
            </a:pPr>
            <a:r>
              <a:rPr sz="1275" b="0">
                <a:solidFill>
                  <a:srgbClr val="29BDE3"/>
                </a:solidFill>
              </a:rPr>
              <a:t>2/2 · MET · 外网关闭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D5B51-7B64-469B-AD2F-5CBD8658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F9862-578A-40CB-B153-7152E6C4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证据：public_interaction_acceptance.json · replay_completed_1920x1080.png</a:t>
            </a:r>
          </a:p>
        </p:txBody>
      </p:sp>
    </p:spTree>
    <p:extLst>
      <p:ext uri="{BB962C8B-B14F-4D97-AF65-F5344CB8AC3E}">
        <p14:creationId xmlns:p14="http://schemas.microsoft.com/office/powerpoint/2010/main" val="620350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AA0C2-D1C1-45A9-9AA8-3DC9F0FF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18E2A-ED3B-40B9-B3F1-F5E6F1F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优先负面风险复核，不等于只采集负面新闻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8A418-AAD3-44B6-8878-F317D61C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D5C27-B090-42AE-A51B-0B309015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4E856-C48C-4D4B-8994-F5FC6F5D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79CAF"/>
                </a:solidFill>
              </a:defRPr>
            </a:pPr>
            <a:r>
              <a:rPr sz="1725" b="0">
                <a:solidFill>
                  <a:srgbClr val="879CAF"/>
                </a:solidFill>
              </a:rPr>
              <a:t>采集层保持全极性；风险路由只回答“是否需要优先人工复核”。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99F9B-7DA7-45AE-8A82-58280283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EEF5"/>
                </a:solidFill>
              </a:defRPr>
            </a:pPr>
            <a:r>
              <a:rPr sz="1800" b="1">
                <a:solidFill>
                  <a:srgbClr val="E6EEF5"/>
                </a:solidFill>
              </a:rPr>
              <a:t>不利且重大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1EF0D-9860-4583-A648-AA4A22AC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7C"/>
                </a:solidFill>
              </a:defRPr>
            </a:pPr>
            <a:r>
              <a:rPr sz="1725" b="1">
                <a:solidFill>
                  <a:srgbClr val="FF6B7C"/>
                </a:solidFill>
              </a:rPr>
              <a:t>RISK_REVIEW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FCFF1-376D-4EF8-B548-6FED7962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破产、欺诈、监管处罚、安全事件等，先进入人工队列。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650A1-D0A6-4801-A782-B97CD455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C"/>
          </a:solidFill>
          <a:ln xmlns:a="http://schemas.openxmlformats.org/drawingml/2006/main" w="0">
            <a:solidFill>
              <a:srgbClr val="FF6B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59A2-06BC-4DA1-A003-86D07FCE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95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75183-19B5-414C-B54E-F11B3D5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EEF5"/>
                </a:solidFill>
              </a:defRPr>
            </a:pPr>
            <a:r>
              <a:rPr sz="1800" b="1">
                <a:solidFill>
                  <a:srgbClr val="E6EEF5"/>
                </a:solidFill>
              </a:rPr>
              <a:t>正面或中性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4142D-3D7E-47F9-94B0-19A548C5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D59F"/>
                </a:solidFill>
              </a:defRPr>
            </a:pPr>
            <a:r>
              <a:rPr sz="1725" b="1">
                <a:solidFill>
                  <a:srgbClr val="3ED59F"/>
                </a:solidFill>
              </a:rPr>
              <a:t>NON_TARGET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217F-7CE0-403D-8C4C-77E3BDF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业绩改善、任命、正常产品新闻仍进入账本，作为真实对照。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AFF1B-DDA6-4878-A6E8-180F6B33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59F"/>
          </a:solidFill>
          <a:ln xmlns:a="http://schemas.openxmlformats.org/drawingml/2006/main" w="0">
            <a:solidFill>
              <a:srgbClr val="3ED59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50BD4-C00F-4D66-8637-96D8FEE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95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FD571-2DB2-499B-95B6-9938B0F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EEF5"/>
                </a:solidFill>
              </a:defRPr>
            </a:pPr>
            <a:r>
              <a:rPr sz="1800" b="1">
                <a:solidFill>
                  <a:srgbClr val="E6EEF5"/>
                </a:solidFill>
              </a:rPr>
              <a:t>不足或冲突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7C6FD-B285-470B-8D37-B506142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35A"/>
                </a:solidFill>
              </a:defRPr>
            </a:pPr>
            <a:r>
              <a:rPr sz="1725" b="1">
                <a:solidFill>
                  <a:srgbClr val="F0B35A"/>
                </a:solidFill>
              </a:rPr>
              <a:t>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52DE8-0E5C-4512-B315-4054E8F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只有标题、缺少主证据、官方更正或含义不清时停止判断。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BBA79-C796-4585-9305-CB068704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 w="0">
            <a:solidFill>
              <a:srgbClr val="F0B3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CC56E-7C1B-487A-B5FC-636066E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25150" cy="74295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51DF5-F798-4266-8935-25D5C65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BDE3"/>
                </a:solidFill>
              </a:defRPr>
            </a:pPr>
            <a:r>
              <a:rPr sz="1650" b="1">
                <a:solidFill>
                  <a:srgbClr val="29BDE3"/>
                </a:solidFill>
              </a:rPr>
              <a:t>P0 / P1 / P2 是证据权威等级，不是情绪标签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DF30B-A497-44D9-9331-A4F92DB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863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B8AFB"/>
                </a:solidFill>
              </a:defRPr>
            </a:pPr>
            <a:r>
              <a:rPr sz="1275" b="1">
                <a:solidFill>
                  <a:srgbClr val="9B8AFB"/>
                </a:solidFill>
              </a:rPr>
              <a:t>authority ≠ sentiment · source ≠ target 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CADA9-AFB4-4325-B686-817F3F7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CF519-DBE6-45D4-A659-A7FE6F68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证据：config/risk_label_contract_v3.json · full-polarity ledger policy</a:t>
            </a:r>
          </a:p>
        </p:txBody>
      </p:sp>
    </p:spTree>
    <p:extLst>
      <p:ext uri="{BB962C8B-B14F-4D97-AF65-F5344CB8AC3E}">
        <p14:creationId xmlns:p14="http://schemas.microsoft.com/office/powerpoint/2010/main" val="69366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BC1360-B493-4D2C-AA29-DC69F9F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38908-5BCB-4381-893E-B0B2978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本地小模型只负责摘要，事实与最终状态仍由证据图决定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0A956-4F51-4E8A-BB7F-9BA97DDF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7BF33-A16E-401C-81D5-43B1920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3533D-2A1A-4EA4-8888-33F2476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574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79CAF"/>
                </a:solidFill>
              </a:defRPr>
            </a:pPr>
            <a:r>
              <a:rPr sz="1950" b="1">
                <a:solidFill>
                  <a:srgbClr val="879CAF"/>
                </a:solidFill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ACA06-BEAC-48DE-AFF3-0B61854E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598170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9B8A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569E2-C613-49CB-B1FE-1F5C6F87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8AFB"/>
                </a:solidFill>
              </a:defRPr>
            </a:pPr>
            <a:r>
              <a:rPr sz="1650" b="1">
                <a:solidFill>
                  <a:srgbClr val="9B8AFB"/>
                </a:solidFill>
              </a:rPr>
              <a:t>确定性证据图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8A3E9-4A39-422C-B0C1-2646A71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声明、精确引文、支持/反驳关系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EA078-5A8C-4DFD-82D0-79FAF771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79CAF"/>
                </a:solidFill>
              </a:defRPr>
            </a:pPr>
            <a:r>
              <a:rPr sz="1950" b="1">
                <a:solidFill>
                  <a:srgbClr val="879CAF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792B0-FB4A-4D71-994B-7196457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598170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9B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EE082-5DA7-4E6D-A20D-2E0598B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BDE3"/>
                </a:solidFill>
              </a:defRPr>
            </a:pPr>
            <a:r>
              <a:rPr sz="1650" b="1">
                <a:solidFill>
                  <a:srgbClr val="29BDE3"/>
                </a:solidFill>
              </a:rPr>
              <a:t>本地 Qwen 0.5B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19CCB-C441-45FE-8122-6B081065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llama.cpp 回环推理 · summary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A1C58-D7B6-4ED9-AF39-EE9AEB2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24300"/>
            <a:ext cx="598170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3ED5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6DD4C-5B29-41E4-B879-884506B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D59F"/>
                </a:solidFill>
              </a:defRPr>
            </a:pPr>
            <a:r>
              <a:rPr sz="1650" b="1">
                <a:solidFill>
                  <a:srgbClr val="3ED59F"/>
                </a:solidFill>
              </a:rPr>
              <a:t>确定性最终门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EBAD7-3D75-48C3-9B55-458C8DD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SUPPORTED / CONFLICT / INSUFFICIENT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63A2D-45D1-4569-9889-1B10C07B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72FAE-232E-4017-9A94-905D547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D59F"/>
                </a:solidFill>
              </a:defRPr>
            </a:pPr>
            <a:r>
              <a:rPr sz="2550" b="1">
                <a:solidFill>
                  <a:srgbClr val="3ED59F"/>
                </a:solidFill>
              </a:rPr>
              <a:t>8 /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C3809-3C66-4751-A91D-8F13D87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冻结案例合同通过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AECD7-1814-4AB1-A7C3-78D1442C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10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D59F"/>
                </a:solidFill>
              </a:defRPr>
            </a:pPr>
            <a:r>
              <a:rPr sz="2550" b="1">
                <a:solidFill>
                  <a:srgbClr val="3ED59F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EBCA2-FBD7-4654-8924-663CADFC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2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引用与注入抵抗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2688B-84B5-443B-BFBA-7267D76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9BDE3"/>
                </a:solidFill>
              </a:defRPr>
            </a:pPr>
            <a:r>
              <a:rPr sz="2550" b="1">
                <a:solidFill>
                  <a:srgbClr val="29BDE3"/>
                </a:solidFill>
              </a:rPr>
              <a:t>4.61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E38A4-9B58-451D-817C-82AB4FE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2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本地推理 P95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4C74C-F0D4-4098-831F-7AA2615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10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AFB"/>
                </a:solidFill>
              </a:defRPr>
            </a:pPr>
            <a:r>
              <a:rPr sz="2550" b="1">
                <a:solidFill>
                  <a:srgbClr val="9B8AFB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BD401-F398-4F5A-9DA2-C27260E7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2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推理外部网络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B09E4-C041-432B-AEDC-5C37D5F7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B3128-0213-4114-8D40-00E1D0E5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证据：reports/local_evidence_model_comparison_latest.json</a:t>
            </a:r>
          </a:p>
        </p:txBody>
      </p:sp>
    </p:spTree>
    <p:extLst>
      <p:ext uri="{BB962C8B-B14F-4D97-AF65-F5344CB8AC3E}">
        <p14:creationId xmlns:p14="http://schemas.microsoft.com/office/powerpoint/2010/main" val="897422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AF9D7-F580-4E1A-9E91-C90C5BC6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8014B-CFDF-42E1-A800-3B111FE4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95%误报不是坏消息，而是上线门禁真正生效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C8FF7-B46B-42E8-B384-7555623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21788-02B2-4DC7-BCDC-80D00CC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09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2293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cb5f00cda1470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0E03D-28F6-416B-95D4-EDD34641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7C"/>
                </a:solidFill>
              </a:defRPr>
            </a:pPr>
            <a:r>
              <a:rPr sz="1050" b="1">
                <a:solidFill>
                  <a:srgbClr val="FF6B7C"/>
                </a:solidFill>
              </a:rPr>
              <a:t>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F4451-E5A1-4509-9B4C-76F14FC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7C"/>
                </a:solidFill>
              </a:defRPr>
            </a:pPr>
            <a:r>
              <a:rPr sz="1650" b="1">
                <a:solidFill>
                  <a:srgbClr val="FF6B7C"/>
                </a:solidFill>
              </a:rPr>
              <a:t>REMAIN_SHADOW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2EDA3-0A65-4BED-9D0B-DA28A9D3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高召回掩盖了普通新闻误报。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6832C-B6D6-4EEC-B82B-366FE9B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75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B2CC-BEA9-4B71-B542-38B1F695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A"/>
                </a:solidFill>
              </a:defRPr>
            </a:pPr>
            <a:r>
              <a:rPr sz="1050" b="1">
                <a:solidFill>
                  <a:srgbClr val="F0B35A"/>
                </a:solidFill>
              </a:rPr>
              <a:t>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A0CAE-A5A9-46A3-BF1F-7E8B2CC2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35A"/>
                </a:solidFill>
              </a:defRPr>
            </a:pPr>
            <a:r>
              <a:rPr sz="1650" b="1">
                <a:solidFill>
                  <a:srgbClr val="F0B35A"/>
                </a:solidFill>
              </a:rPr>
              <a:t>REJECTED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203EF-F4E2-4330-965D-C6B68A6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来源留出近乎全体ABSTAIN，未部署。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E8B49-53DC-4656-A7FB-2E2335F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375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28895-8CAF-4E1D-A984-2110CED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BDE3"/>
                </a:solidFill>
              </a:defRPr>
            </a:pPr>
            <a:r>
              <a:rPr sz="1050" b="1">
                <a:solidFill>
                  <a:srgbClr val="29BDE3"/>
                </a:solidFill>
              </a:rPr>
              <a:t>V3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286E1-70C5-4E14-9541-9CB8D93F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BDE3"/>
                </a:solidFill>
              </a:defRPr>
            </a:pPr>
            <a:r>
              <a:rPr sz="1800" b="1">
                <a:solidFill>
                  <a:srgbClr val="29BDE3"/>
                </a:solidFill>
              </a:rPr>
              <a:t>877 →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3D30C-2586-4999-BF51-8450017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3752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旧清单无双人内容裁决，被禁止冻结blind-v2。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C15FA-F5CF-421D-8152-B8890EF1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7528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B251D"/>
          </a:solidFill>
          <a:ln xmlns:a="http://schemas.openxmlformats.org/drawingml/2006/main" w="9525">
            <a:solidFill>
              <a:srgbClr val="3ED5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FF0EA-3DE0-41AE-9AC3-D010CACC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911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D59F"/>
                </a:solidFill>
              </a:defRPr>
            </a:pPr>
            <a:r>
              <a:rPr sz="1200" b="1">
                <a:solidFill>
                  <a:srgbClr val="3ED59F"/>
                </a:solidFill>
              </a:rPr>
              <a:t>生产模型未改 · production_changed=false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1A881-883F-478F-9EC9-04CC151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342F0-D059-446D-BF51-E3B75FB3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证据：external_blind_v1_report · risk_router_v2_candidate_report · risk_label_contract_v3_readiness</a:t>
            </a:r>
          </a:p>
        </p:txBody>
      </p:sp>
    </p:spTree>
    <p:extLst>
      <p:ext uri="{BB962C8B-B14F-4D97-AF65-F5344CB8AC3E}">
        <p14:creationId xmlns:p14="http://schemas.microsoft.com/office/powerpoint/2010/main" val="222529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4D0C3-2BEB-4B8E-AA7D-671AFA7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488A1-DA40-455D-A75F-CE2C3C78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系统能迁移、能恢复，也能诚实显示尚未完成的运行门禁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971D8-CA09-46B4-B42F-5784C5A5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F4579-E5EA-45BE-A5FC-914197E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AB869-26BE-43D2-8C89-410D2A11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7219950" cy="4105275"/>
          </a:xfrm>
          <a:prstGeom xmlns:a="http://schemas.openxmlformats.org/drawingml/2006/main" prst="roundRect">
            <a:avLst>
              <a:gd name="adj" fmla="val 1856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c5e6a81c04b90"/>
          <a:stretch xmlns:a="http://schemas.openxmlformats.org/drawingml/2006/main"/>
        </p:blipFill>
        <p:spPr>
          <a:xfrm xmlns:a="http://schemas.openxmlformats.org/drawingml/2006/main">
            <a:off x="609600" y="1620441"/>
            <a:ext cx="7124700" cy="4007644"/>
          </a:xfrm>
          <a:prstGeom xmlns:a="http://schemas.openxmlformats.org/drawingml/2006/main" prst="roundRect">
            <a:avLst>
              <a:gd name="adj" fmla="val 118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0DCF7-6D6F-405A-ADC2-0DFAB3D7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D59F"/>
                </a:solidFill>
              </a:defRPr>
            </a:pPr>
            <a:r>
              <a:rPr sz="2550" b="1">
                <a:solidFill>
                  <a:srgbClr val="3ED59F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2D197-5185-4D54-84D6-0C1AA3F4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常驻服务 active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8CB68-2E0D-42B2-93DF-6E628AB6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9BDE3"/>
                </a:solidFill>
              </a:defRPr>
            </a:pPr>
            <a:r>
              <a:rPr sz="2550" b="1">
                <a:solidFill>
                  <a:srgbClr val="29BDE3"/>
                </a:solidFill>
              </a:rPr>
              <a:t>4,863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7F46C-C061-4C52-88D7-17697B2F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71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迁移清单全部匹配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4EA6F-F5E2-4230-826B-2CB9C434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AFB"/>
                </a:solidFill>
              </a:defRPr>
            </a:pPr>
            <a:r>
              <a:rPr sz="2550" b="1">
                <a:solidFill>
                  <a:srgbClr val="9B8AFB"/>
                </a:solidFill>
              </a:rPr>
              <a:t>4,864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44901-5653-4E7B-8B9D-837E8B6D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完整恢复准备文件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FAB09-778F-4D4B-BAD1-9117FFE5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EEF5"/>
                </a:solidFill>
              </a:defRPr>
            </a:pPr>
            <a:r>
              <a:rPr sz="1275" b="1">
                <a:solidFill>
                  <a:srgbClr val="E6EEF5"/>
                </a:solidFill>
              </a:rPr>
              <a:t>AES-256-GCM · 两库完整性通过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F138D-0A55-4102-A65C-042605B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ED59F"/>
                </a:solidFill>
              </a:defRPr>
            </a:pPr>
            <a:r>
              <a:rPr sz="1200" b="0">
                <a:solidFill>
                  <a:srgbClr val="3ED59F"/>
                </a:solidFill>
              </a:rPr>
              <a:t>不含交易项目 / TLS 私钥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118FB-DEEF-476F-8C21-B6A437C4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3048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B210F"/>
          </a:solidFill>
          <a:ln xmlns:a="http://schemas.openxmlformats.org/drawingml/2006/main" w="9525">
            <a:solidFill>
              <a:srgbClr val="F0B3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8D9EA-3BDE-438B-B870-3D633560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435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B35A"/>
                </a:solidFill>
              </a:defRPr>
            </a:pPr>
            <a:r>
              <a:rPr sz="1275" b="1">
                <a:solidFill>
                  <a:srgbClr val="F0B35A"/>
                </a:solidFill>
              </a:rPr>
              <a:t>24H WINDOW · PARTIAL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ADAAF-6EE3-491E-8DAF-53DAB94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8165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79CAF"/>
                </a:solidFill>
              </a:defRPr>
            </a:pPr>
            <a:r>
              <a:rPr sz="938" b="0">
                <a:solidFill>
                  <a:srgbClr val="879CAF"/>
                </a:solidFill>
              </a:rPr>
              <a:t>时间未满，不提前宣称PASS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9DD0C-E84E-4E1B-A30B-69D64E16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98271-D4B0-4A6A-BE48-46A1A4D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证据：ACCEPTED_BACKUP.json · migration restore reports · runtime_gate_latest.json</a:t>
            </a:r>
          </a:p>
        </p:txBody>
      </p:sp>
    </p:spTree>
    <p:extLst>
      <p:ext uri="{BB962C8B-B14F-4D97-AF65-F5344CB8AC3E}">
        <p14:creationId xmlns:p14="http://schemas.microsoft.com/office/powerpoint/2010/main" val="1721380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68178-0E73-47E4-9491-751DA4D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2026 实训答辩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5080D-8C0D-4656-B3D4-B89B9D2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6EEF5"/>
                </a:solidFill>
              </a:defRPr>
            </a:pPr>
            <a:r>
              <a:rPr sz="2925" b="1">
                <a:solidFill>
                  <a:srgbClr val="E6EEF5"/>
                </a:solidFill>
              </a:rPr>
              <a:t>工程证据覆盖正常路径、故障路径与离线复核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5C86D-60E1-4D39-859F-A8CB016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E74B5-8BF5-4650-9447-71D27C0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B41D7-B46C-4039-9C3E-A4481ACC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9BDE3"/>
                </a:solidFill>
              </a:defRPr>
            </a:pPr>
            <a:r>
              <a:rPr sz="2625" b="1">
                <a:solidFill>
                  <a:srgbClr val="29BDE3"/>
                </a:solidFill>
              </a:rPr>
              <a:t>313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CD7DA-356D-473A-9D9D-7DD9ED9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38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EEF5"/>
                </a:solidFill>
              </a:defRPr>
            </a:pPr>
            <a:r>
              <a:rPr sz="1650" b="1">
                <a:solidFill>
                  <a:srgbClr val="E6EEF5"/>
                </a:solidFill>
              </a:rPr>
              <a:t>自动化测试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A9134-1AED-4A4E-BF59-17FF92AD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47825"/>
            <a:ext cx="605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含模型合同、恢复安全、网页交互与注入边界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D8AB1-DFC3-4BAB-A7E6-32AAEF4C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0980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C52D1-32AC-476E-A3AB-3FBA42F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ED59F"/>
                </a:solidFill>
              </a:defRPr>
            </a:pPr>
            <a:r>
              <a:rPr sz="2625" b="1">
                <a:solidFill>
                  <a:srgbClr val="3ED59F"/>
                </a:solidFill>
              </a:rPr>
              <a:t>120 / 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89A5B-94E1-4D5F-9600-F55DA0DF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EEF5"/>
                </a:solidFill>
              </a:defRPr>
            </a:pPr>
            <a:r>
              <a:rPr sz="1650" b="1">
                <a:solidFill>
                  <a:srgbClr val="E6EEF5"/>
                </a:solidFill>
              </a:rPr>
              <a:t>并发负载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D59BA-ADEE-47C9-82CE-433FF78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605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15并发请求，公网与回环路径均100%成功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927E8-D02D-4903-AA9B-4EFE0560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6525D-EFFE-4599-AEE5-21E7912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0B35A"/>
                </a:solidFill>
              </a:defRPr>
            </a:pPr>
            <a:r>
              <a:rPr sz="2625" b="1">
                <a:solidFill>
                  <a:srgbClr val="F0B35A"/>
                </a:solidFill>
              </a:rPr>
              <a:t>6 /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9BF52-FC40-4000-A9D9-0410D54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EEF5"/>
                </a:solidFill>
              </a:defRPr>
            </a:pPr>
            <a:r>
              <a:rPr sz="1650" b="1">
                <a:solidFill>
                  <a:srgbClr val="E6EEF5"/>
                </a:solidFill>
              </a:rPr>
              <a:t>故障注入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08487-DBF9-4035-B497-01E21236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90925"/>
            <a:ext cx="605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坏XML、坏模型、坏备份、证据升级、官方更正、禁交易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014CC-79B2-4F07-A785-20349A3C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5290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A52DB-023A-4445-AD40-D98FE500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9B8AFB"/>
                </a:solidFill>
              </a:defRPr>
            </a:pPr>
            <a:r>
              <a:rPr sz="2625" b="1">
                <a:solidFill>
                  <a:srgbClr val="9B8AFB"/>
                </a:solidFill>
              </a:rPr>
              <a:t>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A91D0-9B86-495A-9B7F-91B5B6E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EEF5"/>
                </a:solidFill>
              </a:defRPr>
            </a:pPr>
            <a:r>
              <a:rPr sz="1650" b="1">
                <a:solidFill>
                  <a:srgbClr val="E6EEF5"/>
                </a:solidFill>
              </a:rPr>
              <a:t>离线证据文件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8E0DD-28AE-47FD-AC9B-B0D4338A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62475"/>
            <a:ext cx="605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CAF"/>
                </a:solidFill>
              </a:defRPr>
            </a:pPr>
            <a:r>
              <a:rPr sz="1200" b="0">
                <a:solidFill>
                  <a:srgbClr val="879CAF"/>
                </a:solidFill>
              </a:rPr>
              <a:t>逐文件SHA-256、ZIP CRC、清单一致性与敏感值扫描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36599-CB70-419A-AB69-E246118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F2A92-4533-4EC3-9DE0-776DD51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51D"/>
          </a:solidFill>
          <a:ln xmlns:a="http://schemas.openxmlformats.org/drawingml/2006/main" w="9525">
            <a:solidFill>
              <a:srgbClr val="3ED59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1A880-C1F9-4EBC-969C-BDA05ED2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D59F"/>
                </a:solidFill>
              </a:defRPr>
            </a:pPr>
            <a:r>
              <a:rPr sz="1500" b="1">
                <a:solidFill>
                  <a:srgbClr val="3ED59F"/>
                </a:solidFill>
              </a:rPr>
              <a:t>硬边界审计：交易能力 0 · 自动核验违规 0 · 市场特征泄漏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E1AB2-0EBF-4558-B357-A35D5BEB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0">
            <a:solidFill>
              <a:srgbClr val="2232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1781F-5B8B-4CD1-B139-0536B7E0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79CAF"/>
                </a:solidFill>
              </a:defRPr>
            </a:pPr>
            <a:r>
              <a:rPr sz="788" b="0">
                <a:solidFill>
                  <a:srgbClr val="879CAF"/>
                </a:solidFill>
              </a:rPr>
              <a:t>证据：pytest 313+17 · public_load_test_120x15 · defense_drills · defense_pack_latest</a:t>
            </a:r>
          </a:p>
        </p:txBody>
      </p:sp>
    </p:spTree>
    <p:extLst>
      <p:ext uri="{BB962C8B-B14F-4D97-AF65-F5344CB8AC3E}">
        <p14:creationId xmlns:p14="http://schemas.microsoft.com/office/powerpoint/2010/main" val="7522098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C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C727C-A936-4D6D-BBD9-7B88598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BDE3"/>
                </a:solidFill>
              </a:defRPr>
            </a:pPr>
            <a:r>
              <a:rPr sz="975" b="1">
                <a:solidFill>
                  <a:srgbClr val="29BDE3"/>
                </a:solidFill>
              </a:rPr>
              <a:t>FINANCE RADAR /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DBB5B-7A2E-4001-AA8B-FCBDEEE6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</a:rPr>
              <a:t>真正的差异化，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00104-53BD-484A-A843-9882BFF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9BDE3"/>
                </a:solidFill>
              </a:defRPr>
            </a:pPr>
            <a:r>
              <a:rPr sz="3600" b="1">
                <a:solidFill>
                  <a:srgbClr val="29BDE3"/>
                </a:solidFill>
              </a:rPr>
              <a:t>是系统知道何时不能下结论。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392B9-FCAA-4CE9-AA96-6383325B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AFB"/>
          </a:solidFill>
          <a:ln xmlns:a="http://schemas.openxmlformats.org/drawingml/2006/main" w="0">
            <a:solidFill>
              <a:srgbClr val="9B8A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B050B-A73B-412A-A79B-3C8CA6E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75877-4495-43C8-B056-F5462230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结论回到精确证据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71E06-2DA4-436C-A620-CAE113D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DE3"/>
          </a:solidFill>
          <a:ln xmlns:a="http://schemas.openxmlformats.org/drawingml/2006/main" w="0">
            <a:solidFill>
              <a:srgbClr val="29B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04590-AA6B-4CBD-8934-FA0ED144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可回放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12B15-20F4-4D38-8623-FD031B93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现场不依赖随机事件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748E1-5215-45AD-9D05-44C47AB4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 w="0">
            <a:solidFill>
              <a:srgbClr val="F0B3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A2C5F-E292-4866-A774-0EA4E1D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可拒绝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F1E8E-F561-495F-9653-1BCF1BC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失败模型不会上线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CA361-B869-4EBD-8E07-1374F10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59F"/>
          </a:solidFill>
          <a:ln xmlns:a="http://schemas.openxmlformats.org/drawingml/2006/main" w="0">
            <a:solidFill>
              <a:srgbClr val="3ED5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31AB8-360B-495A-BFB4-49C181E5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EF5"/>
                </a:solidFill>
              </a:defRPr>
            </a:pPr>
            <a:r>
              <a:rPr sz="1725" b="1">
                <a:solidFill>
                  <a:srgbClr val="E6EEF5"/>
                </a:solidFill>
              </a:rPr>
              <a:t>可恢复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90CF7-22A5-43DD-836C-E637C937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CAF"/>
                </a:solidFill>
              </a:defRPr>
            </a:pPr>
            <a:r>
              <a:rPr sz="1125" b="0">
                <a:solidFill>
                  <a:srgbClr val="879CAF"/>
                </a:solidFill>
              </a:rPr>
              <a:t>服务器更换有硬门禁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74036-A78B-4103-A499-D06AADDC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EF5"/>
                </a:solidFill>
              </a:defRPr>
            </a:pPr>
            <a:r>
              <a:rPr sz="1875" b="1">
                <a:solidFill>
                  <a:srgbClr val="E6EEF5"/>
                </a:solidFill>
              </a:rPr>
              <a:t>工程闭环已具备优秀基础；课程闭环还必须由真实过程证据完成。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DC0D5-F294-4D2C-A3B7-B3D4D87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B35A"/>
                </a:solidFill>
              </a:defRPr>
            </a:pPr>
            <a:r>
              <a:rPr sz="1350" b="0">
                <a:solidFill>
                  <a:srgbClr val="F0B35A"/>
                </a:solidFill>
              </a:rPr>
              <a:t>仍待：24小时窗口 · 学生禁飞区与Git贡献 · 教师批准 · V3双人内容裁决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62B3D-685C-4870-87CD-2E48079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623"/>
          </a:solidFill>
          <a:ln xmlns:a="http://schemas.openxmlformats.org/drawingml/2006/main" w="9525">
            <a:solidFill>
              <a:srgbClr val="2232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AD597-8B06-4990-BCE0-BCB700A2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D59F"/>
                </a:solidFill>
              </a:defRPr>
            </a:pPr>
            <a:r>
              <a:rPr sz="1350" b="1">
                <a:solidFill>
                  <a:srgbClr val="3ED59F"/>
                </a:solidFill>
              </a:rPr>
              <a:t>最终证明的不是一次预测，而是一条可复核、可审计、可迁移的工程链路。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7F90E-018D-46AB-9921-0FECE11A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79CAF"/>
                </a:solidFill>
              </a:defRPr>
            </a:pPr>
            <a:r>
              <a:rPr sz="975" b="1">
                <a:solidFill>
                  <a:srgbClr val="879CA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7055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2026-07-18T19:24:15.3210000Z</dcterms:created>
  <dcterms:modified xsi:type="dcterms:W3CDTF">2026-07-18T19:24:15.3210000Z</dcterms:modified>
</coreProperties>
</file>